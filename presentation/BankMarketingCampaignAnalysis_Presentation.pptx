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D4AF3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E276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E276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88.3</c:v>
                </c:pt>
                <c:pt idx="1">
                  <c:v>11.7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276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rate (%)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Unknown</c:v>
                  </c:pt>
                  <c:pt idx="1">
                    <c:v>Failure</c:v>
                  </c:pt>
                  <c:pt idx="2">
                    <c:v>Other</c:v>
                  </c:pt>
                  <c:pt idx="3">
                    <c:v>Success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9.16</c:v>
                </c:pt>
                <c:pt idx="1">
                  <c:v>12.61</c:v>
                </c:pt>
                <c:pt idx="2">
                  <c:v>16.68</c:v>
                </c:pt>
                <c:pt idx="3">
                  <c:v>64.73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FE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duration (seconds)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0&quot;s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Subscribed (yes)</c:v>
                  </c:pt>
                  <c:pt idx="1">
                    <c:v>Did not subscribe (no)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537</c:v>
                </c:pt>
                <c:pt idx="1">
                  <c:v>221</c:v>
                </c:pt>
              </c:numCache>
            </c:numRef>
          </c:val>
        </c:ser>
        <c:dLbls>
          <c:numFmt formatCode="0&quot;s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7CFE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rate (%)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52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10.12</c:v>
                </c:pt>
                <c:pt idx="1">
                  <c:v>16.65</c:v>
                </c:pt>
                <c:pt idx="2">
                  <c:v>51.99</c:v>
                </c:pt>
                <c:pt idx="3">
                  <c:v>19.68</c:v>
                </c:pt>
                <c:pt idx="4">
                  <c:v>6.72</c:v>
                </c:pt>
                <c:pt idx="5">
                  <c:v>10.22</c:v>
                </c:pt>
                <c:pt idx="6">
                  <c:v>9.09</c:v>
                </c:pt>
                <c:pt idx="7">
                  <c:v>11.01</c:v>
                </c:pt>
                <c:pt idx="8">
                  <c:v>46.46</c:v>
                </c:pt>
                <c:pt idx="9">
                  <c:v>43.77</c:v>
                </c:pt>
                <c:pt idx="10">
                  <c:v>10.15</c:v>
                </c:pt>
                <c:pt idx="11">
                  <c:v>46.73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FE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rate (%)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5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Student</c:v>
                  </c:pt>
                  <c:pt idx="1">
                    <c:v>Retired</c:v>
                  </c:pt>
                  <c:pt idx="2">
                    <c:v>Unemployed</c:v>
                  </c:pt>
                  <c:pt idx="3">
                    <c:v>Management</c:v>
                  </c:pt>
                  <c:pt idx="4">
                    <c:v>Housemaid</c:v>
                  </c:pt>
                  <c:pt idx="5">
                    <c:v>Entrepreneur</c:v>
                  </c:pt>
                  <c:pt idx="6">
                    <c:v>Blue-collar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28.68</c:v>
                </c:pt>
                <c:pt idx="1">
                  <c:v>22.79</c:v>
                </c:pt>
                <c:pt idx="2">
                  <c:v>15.5</c:v>
                </c:pt>
                <c:pt idx="3">
                  <c:v>13.76</c:v>
                </c:pt>
                <c:pt idx="4">
                  <c:v>8.79</c:v>
                </c:pt>
                <c:pt idx="5">
                  <c:v>8.27</c:v>
                </c:pt>
                <c:pt idx="6">
                  <c:v>7.27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5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7CFE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4754880" cy="475488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2926080" cy="2926080"/>
          </a:xfrm>
          <a:prstGeom prst="ellipse">
            <a:avLst/>
          </a:prstGeom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MARKETING CAMPAIGN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154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term-deposit subscription?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Learning and Data Analysis  |  Assignment 1 — Exploratory Data Analysis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Bank Marketing (Portuguese banking institution)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43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Direct-marketing phone contacts for a term-deposit product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85316" y="2331720"/>
            <a:ext cx="2103120" cy="210312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1385316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45,211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46177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removing 3 duplicates)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42916" y="2331720"/>
            <a:ext cx="2103120" cy="210312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8" name="Text 6"/>
          <p:cNvSpPr/>
          <p:nvPr/>
        </p:nvSpPr>
        <p:spPr>
          <a:xfrm>
            <a:off x="5042916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71416" y="46177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recorded 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700516" y="2331720"/>
            <a:ext cx="2103120" cy="210312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11" name="Text 9"/>
          <p:cNvSpPr/>
          <p:nvPr/>
        </p:nvSpPr>
        <p:spPr>
          <a:xfrm>
            <a:off x="8700516" y="2331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129016" y="46177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4 missing values)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5806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numeric variables (balance, duration, previous contacts) are strongly right-skewed, so medians and percentages tell a clearer story than raw averages alone.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Rare Outcome: Most Customers Say No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46304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315200" y="19202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0" y="1920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37490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subscribed to a term deposit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5,289 “yes” out of 45,211 contacts.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matters for 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predictive model.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Campaign Snapshot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96696" y="2286000"/>
            <a:ext cx="1828800" cy="1828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85616" y="2286000"/>
            <a:ext cx="1828800" cy="1828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7" name="Text 5"/>
          <p:cNvSpPr/>
          <p:nvPr/>
        </p:nvSpPr>
        <p:spPr>
          <a:xfrm>
            <a:off x="3785616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€1,362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74536" y="2286000"/>
            <a:ext cx="1828800" cy="1828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10" name="Text 8"/>
          <p:cNvSpPr/>
          <p:nvPr/>
        </p:nvSpPr>
        <p:spPr>
          <a:xfrm>
            <a:off x="6574536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258s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63456" y="2286000"/>
            <a:ext cx="1828800" cy="1828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13" name="Text 11"/>
          <p:cNvSpPr/>
          <p:nvPr/>
        </p:nvSpPr>
        <p:spPr>
          <a:xfrm>
            <a:off x="9363456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043416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contacts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campaign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806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high-balance, long-duration, or heavily-contacted customers pull these averages upward — medians are typically lower.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#1 Driver: Has This Customer Been Reached Before?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737360"/>
            <a:ext cx="2194560" cy="2194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138160" y="17373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64.7%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635240" y="4069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after a previous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success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48463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just 9.2% for customers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contacted before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Calls Correlate with “Yes” — But Can’t Predict It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69164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201168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44546A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0" y="2331720"/>
            <a:ext cx="777240" cy="777240"/>
          </a:xfrm>
          <a:prstGeom prst="ellipse">
            <a:avLst/>
          </a:prstGeom>
          <a:solidFill>
            <a:srgbClr val="C0524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Data-leakage caution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461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duration is only known once the call has happened — it cannot be observed before dialing a customer.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useful descriptive signal of engagement, but must be excluded from any model meant to predict subscription before the call.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Timing Wasn’t Aligned with Receptiveness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2588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0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pPr algn="ctr"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busiest contact month, yet had the </a:t>
            </a:r>
            <a:pPr algn="ctr" indent="0" marL="0">
              <a:buNone/>
            </a:pPr>
            <a:r>
              <a:rPr lang="en-US" sz="14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pPr algn="ctr"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subscription rate (6.7%). </a:t>
            </a:r>
            <a:pPr algn="ctr" indent="0" marL="0">
              <a:buNone/>
            </a:pPr>
            <a:r>
              <a:rPr lang="en-US" sz="14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March, September, October and December</a:t>
            </a:r>
            <a:pPr algn="ctr"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far less used — converted at over 40%.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 Shapes Receptiveness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17320"/>
          <a:ext cx="10789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14400" y="5989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retirees subscribe 3–4x more often than blue-collar workers or entrepreneurs — likely reflecting more flexible finances and time.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for Hidden Structure: PCA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430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encoded customer/campaign features, reduced to their main axes of variation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36676" y="1965960"/>
            <a:ext cx="4937760" cy="4160520"/>
          </a:xfrm>
          <a:prstGeom prst="roundRect">
            <a:avLst>
              <a:gd name="adj" fmla="val 2637"/>
            </a:avLst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1202436" y="2331720"/>
            <a:ext cx="1051560" cy="10515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202436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02436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History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02436" y="425196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customers who were reached in a past campaign from those who never were.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by: pdays, previous, poutcome, contact method.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02436" y="5669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 of variance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14516" y="1965960"/>
            <a:ext cx="4937760" cy="4160520"/>
          </a:xfrm>
          <a:prstGeom prst="roundRect">
            <a:avLst>
              <a:gd name="adj" fmla="val 2637"/>
            </a:avLst>
          </a:prstGeom>
          <a:solidFill>
            <a:srgbClr val="141A47"/>
          </a:solidFill>
          <a:ln/>
        </p:spPr>
      </p:sp>
      <p:sp>
        <p:nvSpPr>
          <p:cNvPr id="11" name="Shape 9"/>
          <p:cNvSpPr/>
          <p:nvPr/>
        </p:nvSpPr>
        <p:spPr>
          <a:xfrm>
            <a:off x="6780276" y="2331720"/>
            <a:ext cx="1051560" cy="10515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780276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80276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Socio-Professional Profile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780276" y="425196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higher-education, managerial customers from blue-collar customers contacted mainly in May.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by: education, job, month, housing loan.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80276" y="5669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 of variance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6263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components are needed to explain 80% of total variance — no single factor dominates; customer profiles are genuinely multi-dimensional.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Reveals Two Natural Segments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2, chosen via elbow + silhouette score) applied to the PCA-reduced features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36676" y="178308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44546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36876" y="2148840"/>
            <a:ext cx="1737360" cy="1737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2436876" y="21488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10996" y="40690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Previously Contacted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10996" y="4617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36,998 customers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10996" y="5120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subscription rate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14516" y="178308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44546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14716" y="2148840"/>
            <a:ext cx="1737360" cy="17373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8014716" y="21488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688836" y="40690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Previously Contacted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88836" y="4617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8,213 customers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88836" y="5120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subscription rate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61722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entirely unsupervised method rediscovers the same pattern found in the bivariate analysis: prior contact history is the clearest line between customers.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27632"/>
            <a:ext cx="685800" cy="6858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276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50876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Re-contacting works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938528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campaign success predicts a 65% conversion rate — over 5x the 11.7% baseline.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816352"/>
            <a:ext cx="685800" cy="6858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163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97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was misaligned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127248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busiest month (May) converted worst; quieter months (Mar, Sep, Oct, Dec) converted best.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005072"/>
            <a:ext cx="685800" cy="6858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05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862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 describes, it doesn’t predict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315968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calls signal engagement, but duration is only known after the call — excluding it avoids data leakage.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5193792"/>
            <a:ext cx="685800" cy="6858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193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0749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 is imbalanced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504688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11.7% of customers subscribe; future models need metrics beyond accuracy (e.g. precision, recall, F1).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2026-09-27T20:55:39Z</dcterms:created>
  <dcterms:modified xsi:type="dcterms:W3CDTF">2026-09-27T20:55:39Z</dcterms:modified>
</cp:coreProperties>
</file>